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313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b="1" dirty="0" err="1">
                <a:solidFill>
                  <a:schemeClr val="bg1"/>
                </a:solidFill>
              </a:rPr>
              <a:t>Artificial</a:t>
            </a:r>
            <a:r>
              <a:rPr lang="tr-TR" b="1" dirty="0">
                <a:solidFill>
                  <a:schemeClr val="bg1"/>
                </a:solidFill>
              </a:rPr>
              <a:t> </a:t>
            </a:r>
            <a:r>
              <a:rPr lang="tr-TR" b="1" dirty="0" err="1">
                <a:solidFill>
                  <a:schemeClr val="bg1"/>
                </a:solidFill>
              </a:rPr>
              <a:t>Intelligence</a:t>
            </a:r>
            <a:endParaRPr lang="tr-TR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Yasin Demirci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20212905022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465 — Artificial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bir sonraki ay borcunu odeyebilecek mi?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customer default on their credit card payment next month?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Paid (Normal)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Defaulted (Did not pay)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642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onemli?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for banks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risky customers before default occurs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credit losses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financial risk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Supervised Classification?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Labeled Data Available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veri mevcut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record already has a known outcome: paid (0) or defaulted (1). Supervised learning requires labeled data — and we have 30,000 labeled examples.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Binary Target Variable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6276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Ikili hedef degisken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discrete: 0 or 1. This is a classification problem, not regression. We are predicting a category, not a continuous value.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Not Clustering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degil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216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exploring unknown groups (unsupervised). We know exactly what we want to predict. Unsupervised methods like K-Means cannot optimize for a known label.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Measurable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5021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Olculebilir basari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7216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 lets us measure Accuracy, Recall, ROC-AUC against the true labels — essential for validating a real banking risk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Credit Card Default Dataset  |  Veri Seti Genel Bakis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2344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30,000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12344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704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25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Degisken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12344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704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2240280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SEX, EDUCATION, MARRIAGE,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customer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LIMIT_BAL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limit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PAY_0 – PAY_6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status for last 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BILL_AMT1 – BILL_AMT6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amount for last 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PAY_AMT1 – PAY_AMT6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payment made each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default.payment.next.month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Paid  |  1 = Defaulted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Kesifsel Veri Analizi</a:t>
            </a:r>
            <a:endParaRPr lang="en-US" sz="1100" dirty="0"/>
          </a:p>
        </p:txBody>
      </p:sp>
      <p:pic>
        <p:nvPicPr>
          <p:cNvPr id="4" name="Image 0" descr="/home/claude/target_dagili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4114800" cy="2834640"/>
          </a:xfrm>
          <a:prstGeom prst="rect">
            <a:avLst/>
          </a:prstGeom>
        </p:spPr>
      </p:pic>
      <p:pic>
        <p:nvPicPr>
          <p:cNvPr id="5" name="Image 1" descr="/home/claude/korelasyon_harita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411480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 paid (23,364) vs 22.1% defaulted (6,636)  |  BILL_AMT columns are highly correlated — expected since they represent monthly statements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On Isleme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Column Removed  |  ID sutunu kaldirildi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has no predictive value → df.drop('ID')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Separated  |  X ve Y ayrildi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396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23 independent features  |  Y → default.payment.next.month (0 or 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919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 80% / 20%  |  Egitim-test bolme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07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training samples  |  6,000 test samples  |  stratify=Y preserves class ratio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4728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 |  Sinif dengesizligi giderildi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758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parameter automatically adjusts sample weights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1538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169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Applied  |  Olceklendirme uygulanmadi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4439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Random Forest are tree-based → feature scale does not affect split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Secimi  |  Supervised Learning → Classification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657600"/>
          </a:xfrm>
          <a:prstGeom prst="rect">
            <a:avLst/>
          </a:prstGeom>
          <a:solidFill>
            <a:srgbClr val="1A30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interpretable tree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Visualizable 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overfitting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comparison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931920" cy="3657600"/>
          </a:xfrm>
          <a:prstGeom prst="rect">
            <a:avLst/>
          </a:prstGeom>
          <a:solidFill>
            <a:srgbClr val="1A307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64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→ more stable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predictive power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Decision Tree logic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tree-based models — no feature scaling required  |  Ikisi de agac tabanlidir, olceklendirme gerekmez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Agaci Sonuclari  |  max_depth=5  |  class_weight='balanced'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5603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| Dogruluk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24128"/>
            <a:ext cx="25603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581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| Alan skoru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24128"/>
            <a:ext cx="25603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1581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| Duyarlilik</a:t>
            </a:r>
            <a:endParaRPr lang="en-US" sz="1000" dirty="0"/>
          </a:p>
        </p:txBody>
      </p:sp>
      <p:pic>
        <p:nvPicPr>
          <p:cNvPr id="13" name="Image 0" descr="/home/claude/dt_agac_gors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48840"/>
            <a:ext cx="5029200" cy="1920240"/>
          </a:xfrm>
          <a:prstGeom prst="rect">
            <a:avLst/>
          </a:prstGeom>
        </p:spPr>
      </p:pic>
      <p:pic>
        <p:nvPicPr>
          <p:cNvPr id="14" name="Image 1" descr="/home/claude/dt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148840"/>
            <a:ext cx="3383280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4178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alone holds 74% feature importance → over-reliance on single variable (overfit risk)  |  Tek degiskene asiri bagimlilik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 Sonuclari  |  n_estimators=100  |  max_depth=10  |  class_weight='balanced'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560320" cy="1005840"/>
          </a:xfrm>
          <a:prstGeom prst="rect">
            <a:avLst/>
          </a:prstGeom>
          <a:solidFill>
            <a:srgbClr val="16653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| Dogruluk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24128"/>
            <a:ext cx="2560320" cy="1005840"/>
          </a:xfrm>
          <a:prstGeom prst="rect">
            <a:avLst/>
          </a:prstGeom>
          <a:solidFill>
            <a:srgbClr val="16653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581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| Alan skoru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24128"/>
            <a:ext cx="2560320" cy="1005840"/>
          </a:xfrm>
          <a:prstGeom prst="rect">
            <a:avLst/>
          </a:prstGeom>
          <a:solidFill>
            <a:srgbClr val="16653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1581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| Duyarlilik</a:t>
            </a:r>
            <a:endParaRPr lang="en-US" sz="1000" dirty="0"/>
          </a:p>
        </p:txBody>
      </p:sp>
      <p:pic>
        <p:nvPicPr>
          <p:cNvPr id="13" name="Image 0" descr="/home/claude/rf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48840"/>
            <a:ext cx="3931920" cy="2743200"/>
          </a:xfrm>
          <a:prstGeom prst="rect">
            <a:avLst/>
          </a:prstGeom>
        </p:spPr>
      </p:pic>
      <p:pic>
        <p:nvPicPr>
          <p:cNvPr id="14" name="Image 1" descr="/home/claude/rf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148840"/>
            <a:ext cx="4297680" cy="2743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4937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importance dropped from 74% to 25% — load distributed across 100 trees  |  Agirlik 100 agaca dengeli dagildi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Karsilastirmasi — 5 Metrics  |  5 Metrik</a:t>
            </a:r>
            <a:endParaRPr lang="en-US" sz="1100" dirty="0"/>
          </a:p>
        </p:txBody>
      </p:sp>
      <p:pic>
        <p:nvPicPr>
          <p:cNvPr id="4" name="Image 0" descr="/home/claude/5_metrik_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Full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4" name="Image 0" descr="/home/claude/confusion_matrix_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8340"/>
            <a:ext cx="8595360" cy="26517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83737"/>
              </p:ext>
            </p:extLst>
          </p:nvPr>
        </p:nvGraphicFramePr>
        <p:xfrm>
          <a:off x="274320" y="3287268"/>
          <a:ext cx="8136892" cy="1920240"/>
        </p:xfrm>
        <a:graphic>
          <a:graphicData uri="http://schemas.openxmlformats.org/drawingml/2006/table">
            <a:tbl>
              <a:tblPr/>
              <a:tblGrid>
                <a:gridCol w="2034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%77.08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%79.05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Defaults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Random Forest  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on all 5 metrics 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7568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79.05%  |  ROC-AUC 0.7737  |  F1 0.543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feature importance  |  Dengeli degisken agirligi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8529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weight dropped from 74% to 25% — load shared across 100 trees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  |  Overfite dayanikli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6301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100 trees eliminates the instability of a single decision tree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1148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banking insight 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4074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predictor: PAY_0 (most recent payment delay)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Yasin Demirci  |  20212905022  |  ACM 465 Artificial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782</Words>
  <Application>Microsoft Office PowerPoint</Application>
  <PresentationFormat>Ekran Gösterisi (16:9)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Default Prediction</dc:title>
  <dc:subject>PptxGenJS Presentation</dc:subject>
  <dc:creator>Taha Yasin Demirci</dc:creator>
  <cp:lastModifiedBy>TahaYasin</cp:lastModifiedBy>
  <cp:revision>4</cp:revision>
  <dcterms:created xsi:type="dcterms:W3CDTF">2026-05-19T18:11:37Z</dcterms:created>
  <dcterms:modified xsi:type="dcterms:W3CDTF">2026-05-19T19:10:56Z</dcterms:modified>
</cp:coreProperties>
</file>